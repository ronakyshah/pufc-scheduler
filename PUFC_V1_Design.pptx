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lack and white photo of light and shadows on a buildin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Black and white photo of shadows cast on a concrete structure"/>
          <p:cNvSpPr/>
          <p:nvPr>
            <p:ph type="pic" idx="21"/>
          </p:nvPr>
        </p:nvSpPr>
        <p:spPr>
          <a:xfrm>
            <a:off x="9270652" y="1263650"/>
            <a:ext cx="16757661" cy="1118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Close-up black and white photo of intricate building architecture"/>
          <p:cNvSpPr/>
          <p:nvPr>
            <p:ph type="pic" idx="22"/>
          </p:nvPr>
        </p:nvSpPr>
        <p:spPr>
          <a:xfrm>
            <a:off x="12192000" y="-1341967"/>
            <a:ext cx="10922000" cy="16399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w angle black and white photo of a futuristic apartment building under a cloudy sky"/>
          <p:cNvSpPr/>
          <p:nvPr>
            <p:ph type="pic" idx="21"/>
          </p:nvPr>
        </p:nvSpPr>
        <p:spPr>
          <a:xfrm>
            <a:off x="-120802" y="1270000"/>
            <a:ext cx="16840201" cy="1122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lack and white photo of the outside of a modern office building "/>
          <p:cNvSpPr/>
          <p:nvPr>
            <p:ph type="pic" sz="quarter" idx="22"/>
          </p:nvPr>
        </p:nvSpPr>
        <p:spPr>
          <a:xfrm>
            <a:off x="15443200" y="1270000"/>
            <a:ext cx="81026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lack and white photo of lattice-like, modern architecture on a building"/>
          <p:cNvSpPr/>
          <p:nvPr>
            <p:ph type="pic" sz="half" idx="23"/>
          </p:nvPr>
        </p:nvSpPr>
        <p:spPr>
          <a:xfrm>
            <a:off x="15811500" y="4876800"/>
            <a:ext cx="7366000" cy="982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w angle black and white photo of a modern buildin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jkanor@gmail.com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onak Shah, 28 June 2026, 617.680.9439, djkanor@gmail.com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Ronak Shah, 28 June 2026, 617.680.9439, </a:t>
            </a:r>
            <a:r>
              <a:rPr u="sng">
                <a:hlinkClick r:id="rId2" invalidUrl="" action="" tgtFrame="" tooltip="" history="1" highlightClick="0" endSnd="0"/>
              </a:rPr>
              <a:t>djkanor@gmail.com</a:t>
            </a:r>
          </a:p>
        </p:txBody>
      </p:sp>
      <p:sp>
        <p:nvSpPr>
          <p:cNvPr id="152" name="Automated Referee Assignment Engin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Automated Referee Assignment Engine</a:t>
            </a:r>
          </a:p>
        </p:txBody>
      </p:sp>
      <p:sp>
        <p:nvSpPr>
          <p:cNvPr id="153" name="Optimized via Multi-Constraint Greedy Selection Algorithm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Optimized via Multi-Constraint Greedy Selection Algorithm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roblem…"/>
          <p:cNvSpPr txBox="1"/>
          <p:nvPr>
            <p:ph type="body" idx="1"/>
          </p:nvPr>
        </p:nvSpPr>
        <p:spPr>
          <a:xfrm>
            <a:off x="1206500" y="866463"/>
            <a:ext cx="21971000" cy="11983075"/>
          </a:xfrm>
          <a:prstGeom prst="rect">
            <a:avLst/>
          </a:prstGeom>
        </p:spPr>
        <p:txBody>
          <a:bodyPr/>
          <a:lstStyle/>
          <a:p>
            <a:pPr algn="l" defTabSz="1560536">
              <a:defRPr spc="-148" sz="7424"/>
            </a:pPr>
            <a:r>
              <a:t>Problem</a:t>
            </a:r>
          </a:p>
          <a:p>
            <a:pPr lvl="2" marL="1170431" indent="-390143" algn="l" defTabSz="1560536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Referee assignments are done manually through the AdminSports portal</a:t>
            </a:r>
            <a:br/>
            <a:br/>
            <a:r>
              <a:t>This makes tracking important referee metrics difficult</a:t>
            </a:r>
          </a:p>
          <a:p>
            <a:pPr lvl="2" marL="1170431" indent="-390143" algn="l" defTabSz="1560536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We have found issues around equal game distribution challenging to quantify</a:t>
            </a:r>
          </a:p>
          <a:p>
            <a:pPr algn="l" defTabSz="1560536">
              <a:defRPr spc="-148" sz="7424"/>
            </a:pPr>
          </a:p>
          <a:p>
            <a:pPr algn="l" defTabSz="1560536">
              <a:defRPr spc="-148" sz="7424"/>
            </a:pPr>
            <a:r>
              <a:t>Proposed solution</a:t>
            </a:r>
          </a:p>
          <a:p>
            <a:pPr lvl="2" indent="585215" algn="l" defTabSz="1560536">
              <a:lnSpc>
                <a:spcPct val="90000"/>
              </a:lnSpc>
              <a:spcBef>
                <a:spcPts val="2800"/>
              </a:spcBef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Enable referee assignors to use a Google Spreadsheet driver input file to provide per-referee time windows and generate a schedule that is delivered seamlessly to AdminSports backend via API and generates assignment emails and calendar links</a:t>
            </a:r>
          </a:p>
          <a:p>
            <a:pPr lvl="2" indent="585215" algn="l" defTabSz="1560536">
              <a:lnSpc>
                <a:spcPct val="90000"/>
              </a:lnSpc>
              <a:spcBef>
                <a:spcPts val="2800"/>
              </a:spcBef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Ensure that referee assignments account for age and experience constraints as a ruleset —&gt; potentially also captured via a Google Spreadsheet driver file but processed by natural language rules</a:t>
            </a:r>
          </a:p>
          <a:p>
            <a:pPr lvl="2" indent="585215" algn="l" defTabSz="1560536">
              <a:lnSpc>
                <a:spcPct val="90000"/>
              </a:lnSpc>
              <a:spcBef>
                <a:spcPts val="2800"/>
              </a:spcBef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Produce a visual metrics table that illustrates </a:t>
            </a:r>
          </a:p>
          <a:p>
            <a:pPr lvl="3" marL="1560575" indent="-390143" algn="l" defTabSz="1560536">
              <a:lnSpc>
                <a:spcPct val="90000"/>
              </a:lnSpc>
              <a:spcBef>
                <a:spcPts val="4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years of refereeing (decimal)</a:t>
            </a:r>
          </a:p>
          <a:p>
            <a:pPr lvl="3" marL="1560575" indent="-390143" algn="l" defTabSz="1560536">
              <a:lnSpc>
                <a:spcPct val="90000"/>
              </a:lnSpc>
              <a:spcBef>
                <a:spcPts val="4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number of assigned games</a:t>
            </a:r>
          </a:p>
          <a:p>
            <a:pPr lvl="3" marL="1560575" indent="-390143" algn="l" defTabSz="1560536">
              <a:lnSpc>
                <a:spcPct val="90000"/>
              </a:lnSpc>
              <a:spcBef>
                <a:spcPts val="4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completed report status</a:t>
            </a:r>
          </a:p>
          <a:p>
            <a:pPr lvl="3" marL="1560575" indent="-390143" algn="l" defTabSz="1560536">
              <a:lnSpc>
                <a:spcPct val="90000"/>
              </a:lnSpc>
              <a:spcBef>
                <a:spcPts val="4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number by grade-age group</a:t>
            </a:r>
          </a:p>
          <a:p>
            <a:pPr lvl="3" marL="1560575" indent="-390143" algn="l" defTabSz="1560536">
              <a:lnSpc>
                <a:spcPct val="90000"/>
              </a:lnSpc>
              <a:spcBef>
                <a:spcPts val="4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number by gender</a:t>
            </a:r>
          </a:p>
          <a:p>
            <a:pPr lvl="3" marL="1560575" indent="-390143" algn="l" defTabSz="1560536">
              <a:lnSpc>
                <a:spcPct val="90000"/>
              </a:lnSpc>
              <a:spcBef>
                <a:spcPts val="400"/>
              </a:spcBef>
              <a:buSzPct val="123000"/>
              <a:buChar char="•"/>
              <a:defRPr spc="0" sz="3072">
                <a:latin typeface="+mn-lt"/>
                <a:ea typeface="+mn-ea"/>
                <a:cs typeface="+mn-cs"/>
                <a:sym typeface="Helvetica Neue"/>
              </a:defRPr>
            </a:pPr>
            <a:r>
              <a:t>yellow and red card distributions to players and coaches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rrent implementation…"/>
          <p:cNvSpPr txBox="1"/>
          <p:nvPr>
            <p:ph type="title"/>
          </p:nvPr>
        </p:nvSpPr>
        <p:spPr>
          <a:xfrm>
            <a:off x="1206496" y="1780724"/>
            <a:ext cx="21971004" cy="9439065"/>
          </a:xfrm>
          <a:prstGeom prst="rect">
            <a:avLst/>
          </a:prstGeom>
        </p:spPr>
        <p:txBody>
          <a:bodyPr/>
          <a:lstStyle/>
          <a:p>
            <a:pPr defTabSz="2316421">
              <a:defRPr spc="-220" sz="11020"/>
            </a:pPr>
            <a:r>
              <a:t>Current implementation</a:t>
            </a:r>
          </a:p>
          <a:p>
            <a:pPr defTabSz="2316421">
              <a:defRPr spc="-220" sz="11020"/>
            </a:pPr>
          </a:p>
          <a:p>
            <a:pPr defTabSz="2316421">
              <a:lnSpc>
                <a:spcPct val="90000"/>
              </a:lnSpc>
              <a:spcBef>
                <a:spcPts val="4200"/>
              </a:spcBef>
              <a:defRPr spc="0" sz="4560">
                <a:latin typeface="+mn-lt"/>
                <a:ea typeface="+mn-ea"/>
                <a:cs typeface="+mn-cs"/>
                <a:sym typeface="Helvetica Neue"/>
              </a:defRPr>
            </a:pPr>
            <a:r>
              <a:t>Python script consumes:</a:t>
            </a:r>
          </a:p>
          <a:p>
            <a:pPr lvl="2" marL="1737360" indent="-579119" defTabSz="2316421">
              <a:lnSpc>
                <a:spcPct val="90000"/>
              </a:lnSpc>
              <a:spcBef>
                <a:spcPts val="4200"/>
              </a:spcBef>
              <a:buSzPct val="123000"/>
              <a:defRPr b="0" spc="0" sz="4560"/>
            </a:pPr>
            <a:r>
              <a:t>an example game schedule from Parkway United</a:t>
            </a:r>
          </a:p>
          <a:p>
            <a:pPr lvl="2" marL="1737360" indent="-579119" defTabSz="2316421">
              <a:lnSpc>
                <a:spcPct val="90000"/>
              </a:lnSpc>
              <a:spcBef>
                <a:spcPts val="4200"/>
              </a:spcBef>
              <a:buSzPct val="123000"/>
              <a:defRPr b="0" spc="0" sz="4560"/>
            </a:pPr>
            <a:r>
              <a:t>a referee list with fake birthdates, start and stop times</a:t>
            </a:r>
          </a:p>
          <a:p>
            <a:pPr defTabSz="2316421">
              <a:lnSpc>
                <a:spcPct val="90000"/>
              </a:lnSpc>
              <a:spcBef>
                <a:spcPts val="4200"/>
              </a:spcBef>
              <a:defRPr spc="0" sz="4560">
                <a:latin typeface="+mn-lt"/>
                <a:ea typeface="+mn-ea"/>
                <a:cs typeface="+mn-cs"/>
                <a:sym typeface="Helvetica Neue"/>
              </a:defRPr>
            </a:pPr>
            <a:r>
              <a:t>Rule set for assigning referees is only age based right now (ran out of GitHub CoPilot credit)</a:t>
            </a:r>
          </a:p>
          <a:p>
            <a:pPr defTabSz="2316421">
              <a:lnSpc>
                <a:spcPct val="90000"/>
              </a:lnSpc>
              <a:spcBef>
                <a:spcPts val="4200"/>
              </a:spcBef>
              <a:defRPr spc="0" sz="4560">
                <a:latin typeface="+mn-lt"/>
                <a:ea typeface="+mn-ea"/>
                <a:cs typeface="+mn-cs"/>
                <a:sym typeface="Helvetica Neue"/>
              </a:defRPr>
            </a:pPr>
            <a:r>
              <a:t>Rule set is not modular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Desired rule set…"/>
          <p:cNvSpPr txBox="1"/>
          <p:nvPr>
            <p:ph type="title"/>
          </p:nvPr>
        </p:nvSpPr>
        <p:spPr>
          <a:xfrm>
            <a:off x="1206496" y="1179021"/>
            <a:ext cx="21971004" cy="11764285"/>
          </a:xfrm>
          <a:prstGeom prst="rect">
            <a:avLst/>
          </a:prstGeom>
        </p:spPr>
        <p:txBody>
          <a:bodyPr/>
          <a:lstStyle/>
          <a:p>
            <a:pPr defTabSz="1658070">
              <a:defRPr spc="-157" sz="7887"/>
            </a:pPr>
            <a:r>
              <a:t>Desired rule set</a:t>
            </a:r>
          </a:p>
          <a:p>
            <a:pPr defTabSz="1658070">
              <a:defRPr spc="-157" sz="7887"/>
            </a:pP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  <a:r>
              <a:t>Rule 0:  (</a:t>
            </a:r>
            <a:r>
              <a:rPr b="1"/>
              <a:t>All centers first</a:t>
            </a:r>
            <a:r>
              <a:t>):  ensure that all centers are assigned first, before assigning ARs</a:t>
            </a: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  <a:r>
              <a:t>Rule 1 (</a:t>
            </a:r>
            <a:r>
              <a:rPr b="1"/>
              <a:t>High-Stakes Centers</a:t>
            </a:r>
            <a:r>
              <a:t>): Grades 6 &amp; 8 (Divisions 1 &amp; 2) require a Center Referee who is &gt;=18 years old OR has &gt;=2 years of experience</a:t>
            </a: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  <a:r>
              <a:t>Rule 2 (</a:t>
            </a:r>
            <a:r>
              <a:rPr b="1"/>
              <a:t>High-Stakes ARs</a:t>
            </a:r>
            <a:r>
              <a:t>): Assistant Referees (ARs) for Grade 8 (Divisions 1 &amp; 2) must have &gt;=0.5 years of experience</a:t>
            </a: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  <a:r>
              <a:t>Rule 3 (</a:t>
            </a:r>
            <a:r>
              <a:rPr b="1"/>
              <a:t>Junior Development</a:t>
            </a:r>
            <a:r>
              <a:t>): Grades 3 &amp; 4 Center Referees can be any age, but the algorithm preferentially selects candidates &lt;18 years old</a:t>
            </a: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  <a:r>
              <a:t>Rule 4 (</a:t>
            </a:r>
            <a:r>
              <a:rPr b="1"/>
              <a:t>Mid-Grade Centers</a:t>
            </a:r>
            <a:r>
              <a:t>): Grade 5/All divisions  &amp; Grade 6/Division 3+ Center Referees must have &gt;=0.5 years of experience</a:t>
            </a: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  <a:r>
              <a:t>Rule 5 (</a:t>
            </a:r>
            <a:r>
              <a:rPr b="1"/>
              <a:t>Open Slots</a:t>
            </a:r>
            <a:r>
              <a:t>): ARs for Grade 5 (all divisions) and Grades 6 &amp; 8 (Divisions 3+) have no age or experience restrictions</a:t>
            </a: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  <a:r>
              <a:t>Rule 6 (</a:t>
            </a:r>
            <a:r>
              <a:rPr b="1"/>
              <a:t>Load management</a:t>
            </a:r>
            <a:r>
              <a:t>): referees can do no more than 3 consecutive games, and only 1 at center</a:t>
            </a:r>
          </a:p>
          <a:p>
            <a:pPr defTabSz="1658070">
              <a:lnSpc>
                <a:spcPct val="90000"/>
              </a:lnSpc>
              <a:spcBef>
                <a:spcPts val="3000"/>
              </a:spcBef>
              <a:defRPr spc="0" sz="3264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feree gap identification…"/>
          <p:cNvSpPr txBox="1"/>
          <p:nvPr>
            <p:ph type="title"/>
          </p:nvPr>
        </p:nvSpPr>
        <p:spPr>
          <a:xfrm>
            <a:off x="1206496" y="959011"/>
            <a:ext cx="21971004" cy="11062229"/>
          </a:xfrm>
          <a:prstGeom prst="rect">
            <a:avLst/>
          </a:prstGeom>
        </p:spPr>
        <p:txBody>
          <a:bodyPr/>
          <a:lstStyle/>
          <a:p>
            <a:pPr defTabSz="1877520">
              <a:defRPr spc="-178" sz="8932"/>
            </a:pPr>
            <a:r>
              <a:t>Referee gap identification</a:t>
            </a:r>
          </a:p>
          <a:p>
            <a:pPr defTabSz="1877520">
              <a:defRPr spc="-178" sz="8932"/>
            </a:pPr>
          </a:p>
          <a:p>
            <a:pPr defTabSz="1877520">
              <a:lnSpc>
                <a:spcPct val="90000"/>
              </a:lnSpc>
              <a:spcBef>
                <a:spcPts val="3400"/>
              </a:spcBef>
              <a:defRPr spc="0" sz="3696">
                <a:latin typeface="+mn-lt"/>
                <a:ea typeface="+mn-ea"/>
                <a:cs typeface="+mn-cs"/>
                <a:sym typeface="Helvetica Neue"/>
              </a:defRPr>
            </a:pPr>
            <a:r>
              <a:t>The greedy rule set assumes sufficient numbers of referees</a:t>
            </a:r>
          </a:p>
          <a:p>
            <a:pPr defTabSz="1877520">
              <a:lnSpc>
                <a:spcPct val="90000"/>
              </a:lnSpc>
              <a:spcBef>
                <a:spcPts val="3400"/>
              </a:spcBef>
              <a:defRPr spc="0" sz="3696">
                <a:latin typeface="+mn-lt"/>
                <a:ea typeface="+mn-ea"/>
                <a:cs typeface="+mn-cs"/>
                <a:sym typeface="Helvetica Neue"/>
              </a:defRPr>
            </a:pPr>
            <a:r>
              <a:t>For any given ruleset, this condition may not hold</a:t>
            </a:r>
          </a:p>
          <a:p>
            <a:pPr defTabSz="1877520">
              <a:lnSpc>
                <a:spcPct val="90000"/>
              </a:lnSpc>
              <a:spcBef>
                <a:spcPts val="3400"/>
              </a:spcBef>
              <a:defRPr spc="0" sz="3696">
                <a:latin typeface="+mn-lt"/>
                <a:ea typeface="+mn-ea"/>
                <a:cs typeface="+mn-cs"/>
                <a:sym typeface="Helvetica Neue"/>
              </a:defRPr>
            </a:pPr>
            <a:r>
              <a:t>Future algorithms must identify gap situations and alert the referee assignor when the algorithm is not able to complete assignments</a:t>
            </a:r>
          </a:p>
          <a:p>
            <a:pPr defTabSz="1877520">
              <a:lnSpc>
                <a:spcPct val="90000"/>
              </a:lnSpc>
              <a:spcBef>
                <a:spcPts val="3400"/>
              </a:spcBef>
              <a:defRPr spc="0" sz="3696">
                <a:latin typeface="+mn-lt"/>
                <a:ea typeface="+mn-ea"/>
                <a:cs typeface="+mn-cs"/>
                <a:sym typeface="Helvetica Neue"/>
              </a:defRPr>
            </a:pPr>
            <a:r>
              <a:t>Ways forward to address gaps:</a:t>
            </a:r>
          </a:p>
          <a:p>
            <a:pPr lvl="1" marL="938783" indent="-469391" defTabSz="1877520">
              <a:lnSpc>
                <a:spcPct val="90000"/>
              </a:lnSpc>
              <a:spcBef>
                <a:spcPts val="3400"/>
              </a:spcBef>
              <a:buSzPct val="123000"/>
              <a:defRPr b="0" spc="0" sz="3696"/>
            </a:pPr>
            <a:r>
              <a:t>Assign all game centers and override age constraints for Grade 6 and younger regardless of divisions</a:t>
            </a:r>
          </a:p>
          <a:p>
            <a:pPr lvl="1" marL="938783" indent="-469391" defTabSz="1877520">
              <a:lnSpc>
                <a:spcPct val="90000"/>
              </a:lnSpc>
              <a:spcBef>
                <a:spcPts val="3400"/>
              </a:spcBef>
              <a:buSzPct val="123000"/>
              <a:defRPr b="0" spc="0" sz="3696"/>
            </a:pPr>
            <a:r>
              <a:t>Identify games WITHOUT ARs for Referee assignor reviews in AdminSports portal (include email to assignor as trigger)</a:t>
            </a:r>
          </a:p>
          <a:p>
            <a:pPr lvl="1" marL="938783" indent="-469391" defTabSz="1877520">
              <a:lnSpc>
                <a:spcPct val="90000"/>
              </a:lnSpc>
              <a:spcBef>
                <a:spcPts val="3400"/>
              </a:spcBef>
              <a:buSzPct val="123000"/>
              <a:defRPr b="0" spc="0" sz="3696"/>
            </a:pPr>
            <a:r>
              <a:t>Generate alert messages — after referee assignor </a:t>
            </a:r>
            <a:r>
              <a:rPr b="1" i="1" u="sng"/>
              <a:t>approval</a:t>
            </a:r>
            <a:r>
              <a:t> of the truncated scheduling — to home and away coaches for their situational awareness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dditional TODOs…"/>
          <p:cNvSpPr txBox="1"/>
          <p:nvPr>
            <p:ph type="title"/>
          </p:nvPr>
        </p:nvSpPr>
        <p:spPr>
          <a:xfrm>
            <a:off x="1206496" y="1225494"/>
            <a:ext cx="21971004" cy="11380447"/>
          </a:xfrm>
          <a:prstGeom prst="rect">
            <a:avLst/>
          </a:prstGeom>
        </p:spPr>
        <p:txBody>
          <a:bodyPr/>
          <a:lstStyle/>
          <a:p>
            <a:pPr/>
            <a:r>
              <a:t>Additional TODOs</a:t>
            </a:r>
          </a:p>
          <a:p>
            <a:pPr lvl="2" marL="2667000" indent="-889000">
              <a:lnSpc>
                <a:spcPct val="90000"/>
              </a:lnSpc>
              <a:spcBef>
                <a:spcPts val="4500"/>
              </a:spcBef>
              <a:buSzPct val="100000"/>
              <a:defRPr b="0" spc="0" sz="4800"/>
            </a:pPr>
            <a:r>
              <a:t>(1) Test Google spreadsheet lookup that integrates with Google workspace documentation for club's referee listing.  This is where we plan to centralize and secure referee information for week-to-week planning</a:t>
            </a:r>
          </a:p>
          <a:p>
            <a:pPr lvl="2" marL="2667000" indent="-889000">
              <a:lnSpc>
                <a:spcPct val="90000"/>
              </a:lnSpc>
              <a:spcBef>
                <a:spcPts val="4500"/>
              </a:spcBef>
              <a:buSzPct val="100000"/>
              <a:defRPr b="0" spc="0" sz="4800"/>
            </a:pPr>
            <a:r>
              <a:t>Build and test API connectivity to AdminSports</a:t>
            </a:r>
          </a:p>
          <a:p>
            <a:pPr lvl="2" marL="2667000" indent="-889000">
              <a:lnSpc>
                <a:spcPct val="90000"/>
              </a:lnSpc>
              <a:spcBef>
                <a:spcPts val="4500"/>
              </a:spcBef>
              <a:buSzPct val="100000"/>
              <a:defRPr b="0" spc="0" sz="4800"/>
            </a:pPr>
            <a:r>
              <a:t>Implement the desired logic as a separate look-up to ensure modularity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BE00FF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